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edonlata\Desktop\Capstone1\bike_type_share_by_typ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Bike Type Preference by Rider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bike_type_share_by_type!$H$1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8C6-1C43-BC1A-C3E7B231894A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8C6-1C43-BC1A-C3E7B231894A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8C6-1C43-BC1A-C3E7B231894A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8C6-1C43-BC1A-C3E7B23189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bike_type_share_by_type!$F$2:$G$5</c:f>
              <c:multiLvlStrCache>
                <c:ptCount val="4"/>
                <c:lvl>
                  <c:pt idx="0">
                    <c:v>classic_bike</c:v>
                  </c:pt>
                  <c:pt idx="1">
                    <c:v>electric_bike</c:v>
                  </c:pt>
                  <c:pt idx="2">
                    <c:v>classic_bike</c:v>
                  </c:pt>
                  <c:pt idx="3">
                    <c:v>electric_bike</c:v>
                  </c:pt>
                </c:lvl>
                <c:lvl>
                  <c:pt idx="0">
                    <c:v>member</c:v>
                  </c:pt>
                  <c:pt idx="1">
                    <c:v>member</c:v>
                  </c:pt>
                  <c:pt idx="2">
                    <c:v>casual</c:v>
                  </c:pt>
                  <c:pt idx="3">
                    <c:v>casual</c:v>
                  </c:pt>
                </c:lvl>
              </c:multiLvlStrCache>
            </c:multiLvlStrRef>
          </c:cat>
          <c:val>
            <c:numRef>
              <c:f>bike_type_share_by_type!$H$2:$H$5</c:f>
              <c:numCache>
                <c:formatCode>General</c:formatCode>
                <c:ptCount val="4"/>
                <c:pt idx="0">
                  <c:v>0.72</c:v>
                </c:pt>
                <c:pt idx="1">
                  <c:v>0.28000000000000003</c:v>
                </c:pt>
                <c:pt idx="2">
                  <c:v>0.49</c:v>
                </c:pt>
                <c:pt idx="3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8C6-1C43-BC1A-C3E7B23189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2430016"/>
        <c:axId val="1624913312"/>
      </c:barChart>
      <c:catAx>
        <c:axId val="1932430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4913312"/>
        <c:crosses val="autoZero"/>
        <c:auto val="1"/>
        <c:lblAlgn val="ctr"/>
        <c:lblOffset val="100"/>
        <c:noMultiLvlLbl val="0"/>
      </c:catAx>
      <c:valAx>
        <c:axId val="1624913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2430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3">
  <a:schemeClr val="accent1"/>
  <a:schemeClr val="accent1"/>
  <a:schemeClr val="accent1"/>
  <a:schemeClr val="accent1"/>
  <a:schemeClr val="accent1"/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11/12/25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11/12/25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file:///Users/edonlata/Desktop/Capstone1/rides_by_weekday.png" TargetMode="External"/><Relationship Id="rId2" Type="http://schemas.openxmlformats.org/officeDocument/2006/relationships/hyperlink" Target="file:///Users/edonlata/Desktop/Capstone1/Capstone1.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file:///Users/edonlata/Desktop/Capstone1/summary_by_weekday.csv" TargetMode="External"/><Relationship Id="rId5" Type="http://schemas.openxmlformats.org/officeDocument/2006/relationships/hyperlink" Target="file:///Users/edonlata/Desktop/Capstone1/rides_by_hour.png" TargetMode="External"/><Relationship Id="rId4" Type="http://schemas.openxmlformats.org/officeDocument/2006/relationships/hyperlink" Target="file:///Users/edonlata/Desktop/Capstone1/avg_duration_by_weekday.p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02664-958D-2321-A908-CD4268FD1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Cyclist Bike-Share Case Study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B7BDA6-1229-FF45-42B5-75E950CBB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Understanding Rider Behavior to Drive Membership Growth</a:t>
            </a:r>
          </a:p>
          <a:p>
            <a:r>
              <a:rPr lang="en-US" dirty="0"/>
              <a:t>Edon Lata• Cuny college of Staten island • Business Information Systems &amp; Informatics</a:t>
            </a:r>
          </a:p>
        </p:txBody>
      </p:sp>
    </p:spTree>
    <p:extLst>
      <p:ext uri="{BB962C8B-B14F-4D97-AF65-F5344CB8AC3E}">
        <p14:creationId xmlns:p14="http://schemas.microsoft.com/office/powerpoint/2010/main" val="110689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B95BA-DA00-FEFA-05F1-39B16B1C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Cyclist’s success depends on converting casual riders into members.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8825C-6738-A128-E093-67DE37347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Chicago’s bike-share program serves thousands daily.</a:t>
            </a:r>
          </a:p>
          <a:p>
            <a:r>
              <a:rPr lang="en-US" dirty="0"/>
              <a:t>Riders split into Casual (per-ride) and Member (annual).</a:t>
            </a:r>
          </a:p>
          <a:p>
            <a:r>
              <a:rPr lang="en-US" dirty="0"/>
              <a:t>Goal: increase membership to grow lifetime value (LTV).</a:t>
            </a:r>
          </a:p>
          <a:p>
            <a:r>
              <a:rPr lang="en-US" dirty="0"/>
              <a:t>Our analysis uncovers usage differences and conversion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389294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CFD6-26C6-B070-02AF-B09D9826C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Two quarters, two datasets — unified for insights.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60AB26-7881-8EB4-AED6-5B47358D5F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150880"/>
            <a:ext cx="660238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2019 Q1 + 2020 Q1 Divvy Trip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Cleaned, standardized, and merged in R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tidyverse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lubridate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Engineered variables: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ride_length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day_of_week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hour.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invalid durations, HQ QR rides.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1445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193BA5C-B8F3-4972-BA54-014C48FAF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162BAB-C25E-4CE9-B87C-F118DC7E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2BE7932-646F-A4BA-1E23-69A4D36D6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en-US" sz="2200"/>
              <a:t>Members ride to work. Casuals ride for fun.</a:t>
            </a:r>
            <a:br>
              <a:rPr lang="en-US" sz="2200"/>
            </a:br>
            <a:endParaRPr lang="en-US" sz="22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93327-222A-4DAC-9163-371BF44C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994DF72-754A-CDCC-1892-A3E29E36D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>
            <a:normAutofit/>
          </a:bodyPr>
          <a:lstStyle/>
          <a:p>
            <a:r>
              <a:rPr lang="en-US" dirty="0"/>
              <a:t>Members peak Monday – Friday (commuting).</a:t>
            </a:r>
          </a:p>
          <a:p>
            <a:r>
              <a:rPr lang="en-US" dirty="0"/>
              <a:t>Casuals peak Saturday – Sunday (leisure).</a:t>
            </a:r>
          </a:p>
          <a:p>
            <a:r>
              <a:rPr lang="en-US" dirty="0"/>
              <a:t>Weekends show &gt; 2× more casual activity.</a:t>
            </a: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EE34E3-F117-4487-8ACF-33DA65FA1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60131" y="482171"/>
            <a:chExt cx="6091791" cy="514910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ACC02C-6424-4165-93C4-E83C8E81D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60131" y="482171"/>
              <a:ext cx="609179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182CB9C-C978-4C9B-9AAD-8B134189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78956" y="812507"/>
              <a:ext cx="5461780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6388820-A63D-463C-9DBC-060A5ABE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2379" y="977965"/>
            <a:ext cx="5134631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531C39-F652-ADF3-1B45-1D039E32C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26" y="1542696"/>
            <a:ext cx="4821551" cy="30134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4ED70F-D6FD-4EB1-A171-D30F885FE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26CAE9-74C4-4EDD-8A80-77F79EAA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5182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193BA5C-B8F3-4972-BA54-014C48FAF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162BAB-C25E-4CE9-B87C-F118DC7E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2804F55-3E95-F3F6-B8FA-B02B61FE9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en-US" sz="2200" dirty="0"/>
              <a:t>Casual rides last longer — leisure and exploration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93327-222A-4DAC-9163-371BF44C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6" name="Content Placeholder 7">
            <a:extLst>
              <a:ext uri="{FF2B5EF4-FFF2-40B4-BE49-F238E27FC236}">
                <a16:creationId xmlns:a16="http://schemas.microsoft.com/office/drawing/2014/main" id="{2D6DC0E5-6AAC-85C6-C028-8CF52E003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>
            <a:normAutofit/>
          </a:bodyPr>
          <a:lstStyle/>
          <a:p>
            <a:r>
              <a:rPr lang="en-US" dirty="0"/>
              <a:t>Casual mean ride ≈ 25–30 min vs Members ≈ 12 min.</a:t>
            </a:r>
          </a:p>
          <a:p>
            <a:r>
              <a:rPr lang="en-US" dirty="0"/>
              <a:t>Members maintain short, consistent patterns.</a:t>
            </a:r>
          </a:p>
          <a:p>
            <a:r>
              <a:rPr lang="en-US" dirty="0"/>
              <a:t>Reinforces “tourist vs commuter” split.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EE34E3-F117-4487-8ACF-33DA65FA1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60131" y="482171"/>
            <a:chExt cx="6091791" cy="514910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ACC02C-6424-4165-93C4-E83C8E81D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60131" y="482171"/>
              <a:ext cx="609179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182CB9C-C978-4C9B-9AAD-8B134189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78956" y="812507"/>
              <a:ext cx="5461780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6388820-A63D-463C-9DBC-060A5ABE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2379" y="977965"/>
            <a:ext cx="5134631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number of red and blue bars&#10;&#10;AI-generated content may be incorrect.">
            <a:extLst>
              <a:ext uri="{FF2B5EF4-FFF2-40B4-BE49-F238E27FC236}">
                <a16:creationId xmlns:a16="http://schemas.microsoft.com/office/drawing/2014/main" id="{2FD76401-8950-3A8B-1677-76F5109BB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26" y="1542696"/>
            <a:ext cx="4821551" cy="30134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4ED70F-D6FD-4EB1-A171-D30F885FE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26CAE9-74C4-4EDD-8A80-77F79EAA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140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193BA5C-B8F3-4972-BA54-014C48FAF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162BAB-C25E-4CE9-B87C-F118DC7E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0CFD5C9-1520-AAD3-EADA-63D5AE8C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en-US" sz="2200"/>
              <a:t>Distinct daily rhythms by rider type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93327-222A-4DAC-9163-371BF44C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0693799-DBB0-2B90-0CCE-5A7429402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3526523" cy="3450613"/>
          </a:xfrm>
        </p:spPr>
        <p:txBody>
          <a:bodyPr>
            <a:normAutofit/>
          </a:bodyPr>
          <a:lstStyle/>
          <a:p>
            <a:r>
              <a:rPr lang="en-US" dirty="0"/>
              <a:t>Members peak 8 AM &amp; 5 PM (commute hours).</a:t>
            </a:r>
          </a:p>
          <a:p>
            <a:r>
              <a:rPr lang="en-US" dirty="0"/>
              <a:t>Casuals peak 10 AM – 5 PM (weekend leisure).</a:t>
            </a:r>
          </a:p>
          <a:p>
            <a:r>
              <a:rPr lang="en-US" dirty="0"/>
              <a:t>Marketing window: late morning – afternoon weekends.</a:t>
            </a:r>
          </a:p>
          <a:p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EE34E3-F117-4487-8ACF-33DA65FA1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60131" y="482171"/>
            <a:chExt cx="6091791" cy="514910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ACC02C-6424-4165-93C4-E83C8E81D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60131" y="482171"/>
              <a:ext cx="609179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182CB9C-C978-4C9B-9AAD-8B134189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78956" y="812507"/>
              <a:ext cx="5461780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6388820-A63D-463C-9DBC-060A5ABE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2379" y="977965"/>
            <a:ext cx="5134631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with a line&#10;&#10;AI-generated content may be incorrect.">
            <a:extLst>
              <a:ext uri="{FF2B5EF4-FFF2-40B4-BE49-F238E27FC236}">
                <a16:creationId xmlns:a16="http://schemas.microsoft.com/office/drawing/2014/main" id="{20E1B02E-49EA-9E32-5AF8-03778C762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26" y="1542696"/>
            <a:ext cx="4821551" cy="30134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4ED70F-D6FD-4EB1-A171-D30F885FE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26CAE9-74C4-4EDD-8A80-77F79EAA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141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2A4B30-77D7-4FFB-8B53-A88BD68C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586AEA-85FC-5ED3-2166-EF99C1A18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19"/>
            <a:ext cx="4325112" cy="1049235"/>
          </a:xfrm>
        </p:spPr>
        <p:txBody>
          <a:bodyPr>
            <a:normAutofit/>
          </a:bodyPr>
          <a:lstStyle/>
          <a:p>
            <a:r>
              <a:rPr lang="en-US" sz="2800" dirty="0"/>
              <a:t>Where rides begin reveals intent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3AAE2E-5D6B-4952-A4BB-546C49F8D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43251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1E4D783-AD45-49E7-B6C7-BBACB8290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24056BC-C09C-26E9-73F2-B049FCEBB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4325113" cy="4074172"/>
          </a:xfrm>
        </p:spPr>
        <p:txBody>
          <a:bodyPr>
            <a:normAutofit/>
          </a:bodyPr>
          <a:lstStyle/>
          <a:p>
            <a:r>
              <a:rPr lang="en-US" dirty="0"/>
              <a:t>Casual starts cluster near </a:t>
            </a:r>
            <a:r>
              <a:rPr lang="en-US" b="1" dirty="0"/>
              <a:t>lakefront / tourist zones</a:t>
            </a:r>
            <a:r>
              <a:rPr lang="en-US" dirty="0"/>
              <a:t>.</a:t>
            </a:r>
          </a:p>
          <a:p>
            <a:r>
              <a:rPr lang="en-US" dirty="0"/>
              <a:t>Member starts around </a:t>
            </a:r>
            <a:r>
              <a:rPr lang="en-US" b="1" dirty="0"/>
              <a:t>transit corridors / business districts</a:t>
            </a:r>
            <a:r>
              <a:rPr lang="en-US" dirty="0"/>
              <a:t>.</a:t>
            </a:r>
          </a:p>
          <a:p>
            <a:r>
              <a:rPr lang="en-US" dirty="0"/>
              <a:t>Location informs ad placement &amp; on-site offers.</a:t>
            </a:r>
          </a:p>
          <a:p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FB53572-967A-9888-11B4-D2AA2A9D6663}"/>
              </a:ext>
            </a:extLst>
          </p:cNvPr>
          <p:cNvGraphicFramePr>
            <a:graphicFrameLocks/>
          </p:cNvGraphicFramePr>
          <p:nvPr/>
        </p:nvGraphicFramePr>
        <p:xfrm>
          <a:off x="6417733" y="1233124"/>
          <a:ext cx="4637120" cy="442817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770381">
                  <a:extLst>
                    <a:ext uri="{9D8B030D-6E8A-4147-A177-3AD203B41FA5}">
                      <a16:colId xmlns:a16="http://schemas.microsoft.com/office/drawing/2014/main" val="1665238672"/>
                    </a:ext>
                  </a:extLst>
                </a:gridCol>
                <a:gridCol w="2043849">
                  <a:extLst>
                    <a:ext uri="{9D8B030D-6E8A-4147-A177-3AD203B41FA5}">
                      <a16:colId xmlns:a16="http://schemas.microsoft.com/office/drawing/2014/main" val="156399669"/>
                    </a:ext>
                  </a:extLst>
                </a:gridCol>
                <a:gridCol w="822890">
                  <a:extLst>
                    <a:ext uri="{9D8B030D-6E8A-4147-A177-3AD203B41FA5}">
                      <a16:colId xmlns:a16="http://schemas.microsoft.com/office/drawing/2014/main" val="2242970634"/>
                    </a:ext>
                  </a:extLst>
                </a:gridCol>
              </a:tblGrid>
              <a:tr h="4491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member_casual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start_station_name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rides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333275"/>
                  </a:ext>
                </a:extLst>
              </a:tr>
              <a:tr h="379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Canal St &amp; Adams St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13799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139099"/>
                  </a:ext>
                </a:extLst>
              </a:tr>
              <a:tr h="379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Clinton St &amp; Washington Blvd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13434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159543"/>
                  </a:ext>
                </a:extLst>
              </a:tr>
              <a:tr h="379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Clinton St &amp; Madison St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12891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02957"/>
                  </a:ext>
                </a:extLst>
              </a:tr>
              <a:tr h="379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Kingsbury St &amp; Kinzie St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8720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619298"/>
                  </a:ext>
                </a:extLst>
              </a:tr>
              <a:tr h="379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Columbus Dr &amp; Randolph St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8515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706937"/>
                  </a:ext>
                </a:extLst>
              </a:tr>
              <a:tr h="379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Canal St &amp; Madison St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7957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411547"/>
                  </a:ext>
                </a:extLst>
              </a:tr>
              <a:tr h="379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Franklin St &amp; Monroe St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7010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063940"/>
                  </a:ext>
                </a:extLst>
              </a:tr>
              <a:tr h="560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Michigan Ave &amp; Washington St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6686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863548"/>
                  </a:ext>
                </a:extLst>
              </a:tr>
              <a:tr h="379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Larrabee St &amp; Kingsbury St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6467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089387"/>
                  </a:ext>
                </a:extLst>
              </a:tr>
              <a:tr h="3798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member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Clinton St &amp; Lake St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6439</a:t>
                      </a:r>
                    </a:p>
                  </a:txBody>
                  <a:tcPr marL="166368" marR="124776" marT="83184" marB="83184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214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778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0075745-2871-4EFE-AB1D-91ED13912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101AFC-796B-31D0-34EA-79DDC1D9B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992" y="967819"/>
            <a:ext cx="3182405" cy="43111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1"/>
                </a:solidFill>
              </a:rPr>
              <a:t>Casuals favor new, flexible ride options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B6FE07-47DE-47F7-9986-CC53D02A1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449100" cy="5149101"/>
            <a:chOff x="632237" y="482171"/>
            <a:chExt cx="6104331" cy="514910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A43B76-48ED-448F-9C72-FBD176BAB3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7" y="482171"/>
              <a:ext cx="610433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226084B-1196-4F23-8CCF-F02F4D46E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6" y="812507"/>
              <a:ext cx="5471355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DE442CB-3821-45ED-8A24-25846C0B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55991" y="807995"/>
            <a:ext cx="318240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B84E9C1-D82D-4069-AD26-92280768D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9805" y="977965"/>
            <a:ext cx="5440719" cy="4135339"/>
          </a:xfrm>
          <a:prstGeom prst="rect">
            <a:avLst/>
          </a:prstGeom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5886CB00-0B4D-464B-8ED8-6028A4689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7B8F6D-15DD-492D-9776-DF8BEF3EC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7A3D4A-FF1A-10BE-696F-4F27B9E37A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731275"/>
              </p:ext>
            </p:extLst>
          </p:nvPr>
        </p:nvGraphicFramePr>
        <p:xfrm>
          <a:off x="1271587" y="1131888"/>
          <a:ext cx="5139050" cy="385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B93AFC-CD2F-2640-9420-2C2FD10AAB09}"/>
              </a:ext>
            </a:extLst>
          </p:cNvPr>
          <p:cNvSpPr txBox="1"/>
          <p:nvPr/>
        </p:nvSpPr>
        <p:spPr>
          <a:xfrm>
            <a:off x="7555991" y="2936838"/>
            <a:ext cx="3276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Casuals → higher share of dockless / electric bikes.</a:t>
            </a:r>
          </a:p>
          <a:p>
            <a:r>
              <a:rPr lang="en-US" dirty="0"/>
              <a:t>Members → steady usage of classic bikes.</a:t>
            </a:r>
          </a:p>
          <a:p>
            <a:r>
              <a:rPr lang="en-US" dirty="0"/>
              <a:t>Infrastructure planning can mirror this split.</a:t>
            </a:r>
          </a:p>
        </p:txBody>
      </p:sp>
    </p:spTree>
    <p:extLst>
      <p:ext uri="{BB962C8B-B14F-4D97-AF65-F5344CB8AC3E}">
        <p14:creationId xmlns:p14="http://schemas.microsoft.com/office/powerpoint/2010/main" val="3259303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193BA5C-B8F3-4972-BA54-014C48FAF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162BAB-C25E-4CE9-B87C-F118DC7E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6B5FE6A-E41A-CEBC-8F55-41BADC07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3530157" cy="1049235"/>
          </a:xfrm>
        </p:spPr>
        <p:txBody>
          <a:bodyPr>
            <a:normAutofit/>
          </a:bodyPr>
          <a:lstStyle/>
          <a:p>
            <a:r>
              <a:rPr lang="en-US" sz="2500"/>
              <a:t>What drives the gap between riders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B93327-222A-4DAC-9163-371BF44C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E1DB53-8370-E391-9224-5A68D4587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3"/>
            <a:ext cx="3526523" cy="1368662"/>
          </a:xfrm>
        </p:spPr>
        <p:txBody>
          <a:bodyPr>
            <a:normAutofit/>
          </a:bodyPr>
          <a:lstStyle/>
          <a:p>
            <a:r>
              <a:rPr lang="en-US" dirty="0"/>
              <a:t>Behavior shows who they are — our data shows how to convert them.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EE34E3-F117-4487-8ACF-33DA65FA1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60131" y="482171"/>
            <a:chExt cx="6091791" cy="514910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9ACC02C-6424-4165-93C4-E83C8E81D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60131" y="482171"/>
              <a:ext cx="609179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182CB9C-C978-4C9B-9AAD-8B134189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78956" y="812507"/>
              <a:ext cx="5461780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6388820-A63D-463C-9DBC-060A5ABE3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2379" y="977965"/>
            <a:ext cx="5134631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04ED70F-D6FD-4EB1-A171-D30F885FE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26CAE9-74C4-4EDD-8A80-77F79EAA8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A4A7BBC-25EC-DAE1-762B-83690D313128}"/>
              </a:ext>
            </a:extLst>
          </p:cNvPr>
          <p:cNvGraphicFramePr>
            <a:graphicFrameLocks/>
          </p:cNvGraphicFramePr>
          <p:nvPr/>
        </p:nvGraphicFramePr>
        <p:xfrm>
          <a:off x="6093926" y="1586409"/>
          <a:ext cx="4821552" cy="2926050"/>
        </p:xfrm>
        <a:graphic>
          <a:graphicData uri="http://schemas.openxmlformats.org/drawingml/2006/table">
            <a:tbl>
              <a:tblPr/>
              <a:tblGrid>
                <a:gridCol w="1452486">
                  <a:extLst>
                    <a:ext uri="{9D8B030D-6E8A-4147-A177-3AD203B41FA5}">
                      <a16:colId xmlns:a16="http://schemas.microsoft.com/office/drawing/2014/main" val="1310276072"/>
                    </a:ext>
                  </a:extLst>
                </a:gridCol>
                <a:gridCol w="1389771">
                  <a:extLst>
                    <a:ext uri="{9D8B030D-6E8A-4147-A177-3AD203B41FA5}">
                      <a16:colId xmlns:a16="http://schemas.microsoft.com/office/drawing/2014/main" val="2348096324"/>
                    </a:ext>
                  </a:extLst>
                </a:gridCol>
                <a:gridCol w="1979295">
                  <a:extLst>
                    <a:ext uri="{9D8B030D-6E8A-4147-A177-3AD203B41FA5}">
                      <a16:colId xmlns:a16="http://schemas.microsoft.com/office/drawing/2014/main" val="2544690672"/>
                    </a:ext>
                  </a:extLst>
                </a:gridCol>
              </a:tblGrid>
              <a:tr h="3973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Category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Members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Casuals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439492"/>
                  </a:ext>
                </a:extLst>
              </a:tr>
              <a:tr h="6682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Ride timing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Weekdays AM/PM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Weekends midday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758573"/>
                  </a:ext>
                </a:extLst>
              </a:tr>
              <a:tr h="3973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Commute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Leisure / tourism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413634"/>
                  </a:ext>
                </a:extLst>
              </a:tr>
              <a:tr h="3973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Duration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Short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Long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138239"/>
                  </a:ext>
                </a:extLst>
              </a:tr>
              <a:tr h="39736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Start zones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Work hubs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Tourist zones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256559"/>
                  </a:ext>
                </a:extLst>
              </a:tr>
              <a:tr h="6682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Bike type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Classic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800" b="0" i="0" u="none" strike="noStrike">
                          <a:effectLst/>
                          <a:latin typeface="Arial" panose="020B0604020202020204" pitchFamily="34" charset="0"/>
                        </a:rPr>
                        <a:t>Dockless / Electric</a:t>
                      </a:r>
                    </a:p>
                  </a:txBody>
                  <a:tcPr marL="90310" marR="90310" marT="45155" marB="451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886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5783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E860-FED7-4E75-469E-6B28520A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insights into membership growth.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D83A6-7CF7-70FE-59DD-A46DF962B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Weekend Conversion Offers — QR promos at tourist stations.</a:t>
            </a:r>
          </a:p>
          <a:p>
            <a:r>
              <a:rPr lang="en-US" dirty="0"/>
              <a:t>Commute-Value Messaging — push cost/time savings to frequent casuals.</a:t>
            </a:r>
          </a:p>
          <a:p>
            <a:r>
              <a:rPr lang="en-US" dirty="0"/>
              <a:t>Time-of-Day Targeting — ads during weekend midday peaks.</a:t>
            </a:r>
          </a:p>
          <a:p>
            <a:r>
              <a:rPr lang="en-US" dirty="0"/>
              <a:t>Bike-type Personalization — feature electric-bike perks in membership 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68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28F1-6FD6-8984-3FA1-A0190A9E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 higher lifetime value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86CD5-DBA5-353D-7DCE-4D4974DF8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weekend riders converted → higher recurring revenue.</a:t>
            </a:r>
          </a:p>
          <a:p>
            <a:r>
              <a:rPr lang="en-US" dirty="0"/>
              <a:t>Rebalanced demand improves weekday fleet utilization.</a:t>
            </a:r>
          </a:p>
          <a:p>
            <a:r>
              <a:rPr lang="en-US" dirty="0"/>
              <a:t>Predictable member revenue = stronger long-term equity.</a:t>
            </a:r>
          </a:p>
          <a:p>
            <a:pPr lvl="1"/>
            <a:r>
              <a:rPr lang="en-US" dirty="0"/>
              <a:t>Visual: simple 3-step funnel: Casual → Converted → Member → LTV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857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FBDB6B-83D9-5835-419F-0665E4C9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01" y="1474969"/>
            <a:ext cx="2823919" cy="1868760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3300"/>
              <a:t>Where do we go from here?</a:t>
            </a:r>
            <a:br>
              <a:rPr lang="en-US" sz="3300"/>
            </a:br>
            <a:endParaRPr lang="en-US" sz="330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1064388-2CF9-A94F-B180-9A6CFCD306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9946603"/>
              </p:ext>
            </p:extLst>
          </p:nvPr>
        </p:nvGraphicFramePr>
        <p:xfrm>
          <a:off x="4618374" y="1338959"/>
          <a:ext cx="6282919" cy="3420945"/>
        </p:xfrm>
        <a:graphic>
          <a:graphicData uri="http://schemas.openxmlformats.org/drawingml/2006/table">
            <a:tbl>
              <a:tblPr/>
              <a:tblGrid>
                <a:gridCol w="1925379">
                  <a:extLst>
                    <a:ext uri="{9D8B030D-6E8A-4147-A177-3AD203B41FA5}">
                      <a16:colId xmlns:a16="http://schemas.microsoft.com/office/drawing/2014/main" val="1704263994"/>
                    </a:ext>
                  </a:extLst>
                </a:gridCol>
                <a:gridCol w="2112973">
                  <a:extLst>
                    <a:ext uri="{9D8B030D-6E8A-4147-A177-3AD203B41FA5}">
                      <a16:colId xmlns:a16="http://schemas.microsoft.com/office/drawing/2014/main" val="1108705982"/>
                    </a:ext>
                  </a:extLst>
                </a:gridCol>
                <a:gridCol w="2244567">
                  <a:extLst>
                    <a:ext uri="{9D8B030D-6E8A-4147-A177-3AD203B41FA5}">
                      <a16:colId xmlns:a16="http://schemas.microsoft.com/office/drawing/2014/main" val="2643799888"/>
                    </a:ext>
                  </a:extLst>
                </a:gridCol>
              </a:tblGrid>
              <a:tr h="60273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Today</a:t>
                      </a:r>
                    </a:p>
                  </a:txBody>
                  <a:tcPr marL="135040" marR="135040" marT="67520" marB="675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Tomorrow</a:t>
                      </a:r>
                    </a:p>
                  </a:txBody>
                  <a:tcPr marL="135040" marR="135040" marT="67520" marB="675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Next Year</a:t>
                      </a:r>
                    </a:p>
                  </a:txBody>
                  <a:tcPr marL="135040" marR="135040" marT="67520" marB="675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208947"/>
                  </a:ext>
                </a:extLst>
              </a:tr>
              <a:tr h="14091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Complete full-year analysis</a:t>
                      </a:r>
                    </a:p>
                  </a:txBody>
                  <a:tcPr marL="135040" marR="135040" marT="67520" marB="675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Launch targeted pilot offers</a:t>
                      </a:r>
                    </a:p>
                  </a:txBody>
                  <a:tcPr marL="135040" marR="135040" marT="67520" marB="675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Automate LTV dashboards</a:t>
                      </a:r>
                    </a:p>
                  </a:txBody>
                  <a:tcPr marL="135040" marR="135040" marT="67520" marB="675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540804"/>
                  </a:ext>
                </a:extLst>
              </a:tr>
              <a:tr h="14091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Validate peak times &amp; stations</a:t>
                      </a:r>
                    </a:p>
                  </a:txBody>
                  <a:tcPr marL="135040" marR="135040" marT="67520" marB="675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Measure conversion lift</a:t>
                      </a:r>
                    </a:p>
                  </a:txBody>
                  <a:tcPr marL="135040" marR="135040" marT="67520" marB="675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600" b="0" i="0" u="none" strike="noStrike">
                          <a:effectLst/>
                          <a:latin typeface="Arial" panose="020B0604020202020204" pitchFamily="34" charset="0"/>
                        </a:rPr>
                        <a:t>Integrate predictive models</a:t>
                      </a:r>
                    </a:p>
                  </a:txBody>
                  <a:tcPr marL="135040" marR="135040" marT="67520" marB="675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8511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323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70DB-6E79-D21A-288D-A10B825A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Supporting Data &amp; Code (Appendix)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7B389-2B51-6730-204B-3A63A1047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Capstone1.R</a:t>
            </a:r>
            <a:endParaRPr lang="en-US" dirty="0"/>
          </a:p>
          <a:p>
            <a:r>
              <a:rPr lang="en-US" altLang="en-US" dirty="0">
                <a:latin typeface="+mj-lt"/>
                <a:hlinkClick r:id="rId3"/>
              </a:rPr>
              <a:t>rides_by_weekday.png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  <a:hlinkClick r:id="rId4"/>
              </a:rPr>
              <a:t>avg_duration_by_weekday.png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  <a:hlinkClick r:id="rId5"/>
              </a:rPr>
              <a:t>rides_by_hour.png</a:t>
            </a:r>
            <a:endParaRPr lang="en-US" altLang="en-US" dirty="0">
              <a:latin typeface="+mj-lt"/>
            </a:endParaRPr>
          </a:p>
          <a:p>
            <a:r>
              <a:rPr lang="en-US" altLang="en-US" dirty="0">
                <a:latin typeface="+mj-lt"/>
              </a:rPr>
              <a:t>bike_type_share_by_type.png</a:t>
            </a:r>
          </a:p>
          <a:p>
            <a:r>
              <a:rPr lang="en-US" altLang="en-US" dirty="0">
                <a:latin typeface="+mj-lt"/>
                <a:hlinkClick r:id="rId6"/>
              </a:rPr>
              <a:t>summary_by_weekday.csv</a:t>
            </a:r>
            <a:endParaRPr lang="en-US" altLang="en-US" dirty="0">
              <a:latin typeface="+mj-lt"/>
            </a:endParaRPr>
          </a:p>
          <a:p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084870D-2288-9C5C-4840-5A09576FC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44800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81</TotalTime>
  <Words>620</Words>
  <Application>Microsoft Macintosh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Narrow</vt:lpstr>
      <vt:lpstr>Arial</vt:lpstr>
      <vt:lpstr>Gill Sans MT</vt:lpstr>
      <vt:lpstr>Gallery</vt:lpstr>
      <vt:lpstr>Cyclist Bike-Share Case Study </vt:lpstr>
      <vt:lpstr>Cyclist’s success depends on converting casual riders into members. </vt:lpstr>
      <vt:lpstr>Two quarters, two datasets — unified for insights. </vt:lpstr>
      <vt:lpstr>Members ride to work. Casuals ride for fun. </vt:lpstr>
      <vt:lpstr>Casual rides last longer — leisure and exploration</vt:lpstr>
      <vt:lpstr>Distinct daily rhythms by rider type</vt:lpstr>
      <vt:lpstr>Where rides begin reveals intent</vt:lpstr>
      <vt:lpstr>Casuals favor new, flexible ride options</vt:lpstr>
      <vt:lpstr>What drives the gap between riders</vt:lpstr>
      <vt:lpstr>Turn insights into membership growth. </vt:lpstr>
      <vt:lpstr>Driving higher lifetime value </vt:lpstr>
      <vt:lpstr>Where do we go from here? </vt:lpstr>
      <vt:lpstr>Supporting Data &amp; Code (Appendix)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Edon Lata</dc:creator>
  <cp:lastModifiedBy>Edon Lata</cp:lastModifiedBy>
  <cp:revision>1</cp:revision>
  <dcterms:created xsi:type="dcterms:W3CDTF">2025-11-12T22:58:58Z</dcterms:created>
  <dcterms:modified xsi:type="dcterms:W3CDTF">2025-11-13T00:20:02Z</dcterms:modified>
</cp:coreProperties>
</file>