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edonlata/Desktop/Capstone_3/Rplots.pdf" TargetMode="External"/><Relationship Id="rId2" Type="http://schemas.openxmlformats.org/officeDocument/2006/relationships/hyperlink" Target="file:///Users/edonlata/Desktop/Capstone_3/Code.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Users/edonlata/Desktop/Capstone_3/cbb.csv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E420-333B-EB93-21D8-4921767769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NCAA Men’s Basketball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AEBDA-9314-3824-C815-22C8EA51E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Evaluating Team Performance for Endorsement Potential</a:t>
            </a:r>
            <a:br>
              <a:rPr lang="en-US" dirty="0"/>
            </a:br>
            <a:r>
              <a:rPr lang="en-US" dirty="0"/>
              <a:t>By: Edon Lata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65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64E0-4B20-3F06-FD60-35592271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1C53-52B7-3340-C58D-14E1383B7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Objective: Identify NCAA teams with the strongest long-term endorsement potential</a:t>
            </a:r>
          </a:p>
          <a:p>
            <a:r>
              <a:rPr lang="en-US" dirty="0"/>
              <a:t>Method: Multi-season performance analysis using R</a:t>
            </a:r>
          </a:p>
          <a:p>
            <a:r>
              <a:rPr lang="en-US" dirty="0"/>
              <a:t>Focus: Consistency, efficiency, improvement, and conference strength</a:t>
            </a:r>
          </a:p>
          <a:p>
            <a:r>
              <a:rPr lang="en-US" dirty="0"/>
              <a:t>Output: Data-driven recommendations for sports marketing decisions</a:t>
            </a:r>
          </a:p>
        </p:txBody>
      </p:sp>
    </p:spTree>
    <p:extLst>
      <p:ext uri="{BB962C8B-B14F-4D97-AF65-F5344CB8AC3E}">
        <p14:creationId xmlns:p14="http://schemas.microsoft.com/office/powerpoint/2010/main" val="158304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7241-B3C9-2745-BC1A-21D6D86E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Business Question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B583F-75C5-4AFA-11CD-348256FB0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Question</a:t>
            </a:r>
          </a:p>
          <a:p>
            <a:pPr lvl="1"/>
            <a:r>
              <a:rPr lang="en-US" dirty="0"/>
              <a:t>Which NCAA basketball programs demonstrate the strongest performance trends and future potential for endorsement partnerships?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30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0BCD-DA38-91C3-B4FC-6D34AE0EF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 Evaluated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CAD2D-399B-D10A-E4EE-F4CE00B1F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Win Percentage</a:t>
            </a:r>
          </a:p>
          <a:p>
            <a:r>
              <a:rPr lang="en-US" dirty="0"/>
              <a:t>Offensive &amp; Defensive Efficiency</a:t>
            </a:r>
          </a:p>
          <a:p>
            <a:r>
              <a:rPr lang="en-US" dirty="0"/>
              <a:t>BARTHAG (Power Rating)</a:t>
            </a:r>
          </a:p>
          <a:p>
            <a:r>
              <a:rPr lang="en-US" dirty="0"/>
              <a:t>Efficiency Margin</a:t>
            </a:r>
          </a:p>
          <a:p>
            <a:r>
              <a:rPr lang="en-US" dirty="0"/>
              <a:t>Year-over-Year Improvement</a:t>
            </a:r>
          </a:p>
          <a:p>
            <a:r>
              <a:rPr lang="en-US" dirty="0"/>
              <a:t>Conference Strength</a:t>
            </a:r>
          </a:p>
          <a:p>
            <a:r>
              <a:rPr lang="en-US" dirty="0"/>
              <a:t>Postseason Performance</a:t>
            </a:r>
          </a:p>
        </p:txBody>
      </p:sp>
    </p:spTree>
    <p:extLst>
      <p:ext uri="{BB962C8B-B14F-4D97-AF65-F5344CB8AC3E}">
        <p14:creationId xmlns:p14="http://schemas.microsoft.com/office/powerpoint/2010/main" val="2901367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C8F2-D5AC-FA0C-0A00-16F3288B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06049-C219-55F2-0448-D297D19A5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Kaggle College Basketball Dataset (</a:t>
            </a:r>
            <a:r>
              <a:rPr lang="en-US" dirty="0" err="1"/>
              <a:t>cbb.csv</a:t>
            </a:r>
            <a:r>
              <a:rPr lang="en-US" dirty="0"/>
              <a:t>)</a:t>
            </a:r>
          </a:p>
          <a:p>
            <a:r>
              <a:rPr lang="en-US" dirty="0"/>
              <a:t>Coverage: 350+ teams, multiple seasons</a:t>
            </a:r>
          </a:p>
          <a:p>
            <a:r>
              <a:rPr lang="en-US" dirty="0"/>
              <a:t>Variables: Wins, efficiencies, tempo, shooting %, BARTHAG, postseason results</a:t>
            </a:r>
          </a:p>
          <a:p>
            <a:r>
              <a:rPr lang="en-US" dirty="0"/>
              <a:t>Format: Clean, structured, multi-year historical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4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2731-FA1E-77A6-E468-2C68F299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Preparation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685E-5F9E-59AE-97F5-057424A48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Standardized all column names</a:t>
            </a:r>
          </a:p>
          <a:p>
            <a:r>
              <a:rPr lang="en-US" dirty="0"/>
              <a:t>Filtered to modern seasons (2013–present)</a:t>
            </a:r>
          </a:p>
          <a:p>
            <a:r>
              <a:rPr lang="en-US" dirty="0"/>
              <a:t>Converted all numeric and categorical fields</a:t>
            </a:r>
          </a:p>
          <a:p>
            <a:r>
              <a:rPr lang="en-US" dirty="0"/>
              <a:t>Addressed missing or incomplete data</a:t>
            </a:r>
          </a:p>
          <a:p>
            <a:r>
              <a:rPr lang="en-US" dirty="0"/>
              <a:t>Validated team and conference accuracy</a:t>
            </a:r>
          </a:p>
        </p:txBody>
      </p:sp>
    </p:spTree>
    <p:extLst>
      <p:ext uri="{BB962C8B-B14F-4D97-AF65-F5344CB8AC3E}">
        <p14:creationId xmlns:p14="http://schemas.microsoft.com/office/powerpoint/2010/main" val="4065398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6FB5-21C9-0A57-BCFC-C50631C5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Processing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8C3A0-8416-37E0-741C-B0174DD06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new performance metrics</a:t>
            </a:r>
          </a:p>
          <a:p>
            <a:r>
              <a:rPr lang="en-US" dirty="0"/>
              <a:t>Aggregated yearly stats</a:t>
            </a:r>
          </a:p>
          <a:p>
            <a:r>
              <a:rPr lang="en-US" dirty="0"/>
              <a:t>Computed trend-based metrics</a:t>
            </a:r>
          </a:p>
          <a:p>
            <a:r>
              <a:rPr lang="en-US" dirty="0"/>
              <a:t>Segmented teams by conference</a:t>
            </a:r>
          </a:p>
          <a:p>
            <a:r>
              <a:rPr lang="en-US" dirty="0"/>
              <a:t>Exported summary files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84188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2C28-2C98-F423-6666-2AEDB8CB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Analysis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F3BD4-C452-56F5-19E1-DF226959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Multi-year trend evaluation</a:t>
            </a:r>
          </a:p>
          <a:p>
            <a:r>
              <a:rPr lang="en-US" dirty="0"/>
              <a:t>Team-level aggregation (long-term strength)</a:t>
            </a:r>
          </a:p>
          <a:p>
            <a:r>
              <a:rPr lang="en-US" dirty="0"/>
              <a:t>Seasonal improvement analysis</a:t>
            </a:r>
          </a:p>
          <a:p>
            <a:r>
              <a:rPr lang="en-US" dirty="0"/>
              <a:t>Conference-level benchmarking</a:t>
            </a:r>
          </a:p>
          <a:p>
            <a:r>
              <a:rPr lang="en-US" dirty="0"/>
              <a:t>Visual pattern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10545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A921-3280-EB1C-DE5B-7CD7363A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Top Performance Indicators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A754E-5FBD-39DA-02B5-646A1E0B7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Teams were evaluated on:</a:t>
            </a:r>
          </a:p>
          <a:p>
            <a:r>
              <a:rPr lang="en-US" dirty="0"/>
              <a:t>Consistency across seasons</a:t>
            </a:r>
          </a:p>
          <a:p>
            <a:r>
              <a:rPr lang="en-US" dirty="0"/>
              <a:t>Efficiency margin (offense – defense)</a:t>
            </a:r>
          </a:p>
          <a:p>
            <a:r>
              <a:rPr lang="en-US" dirty="0"/>
              <a:t>Strength of schedule &amp; conference</a:t>
            </a:r>
          </a:p>
          <a:p>
            <a:r>
              <a:rPr lang="en-US" dirty="0"/>
              <a:t>Tournament impact</a:t>
            </a:r>
          </a:p>
          <a:p>
            <a:r>
              <a:rPr lang="en-US" dirty="0"/>
              <a:t>BARTHAG power rating stability</a:t>
            </a:r>
          </a:p>
        </p:txBody>
      </p:sp>
    </p:spTree>
    <p:extLst>
      <p:ext uri="{BB962C8B-B14F-4D97-AF65-F5344CB8AC3E}">
        <p14:creationId xmlns:p14="http://schemas.microsoft.com/office/powerpoint/2010/main" val="3590137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9E4F-3DAB-1607-FA02-E9C6F3E0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Findings: Overall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130B-8FB6-2317-D863-0FF0D88E9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small set of teams consistently rank at the top in BARTHAG</a:t>
            </a:r>
          </a:p>
          <a:p>
            <a:r>
              <a:rPr lang="en-US" dirty="0"/>
              <a:t>Elite teams maintain strong defensive and offensive efficiency</a:t>
            </a:r>
          </a:p>
          <a:p>
            <a:r>
              <a:rPr lang="en-US" dirty="0"/>
              <a:t>High power ratings correlate strongly with long-term success</a:t>
            </a:r>
          </a:p>
          <a:p>
            <a:r>
              <a:rPr lang="en-US" dirty="0"/>
              <a:t>Traditional powerhouse programs continue to dominate</a:t>
            </a:r>
          </a:p>
        </p:txBody>
      </p:sp>
    </p:spTree>
    <p:extLst>
      <p:ext uri="{BB962C8B-B14F-4D97-AF65-F5344CB8AC3E}">
        <p14:creationId xmlns:p14="http://schemas.microsoft.com/office/powerpoint/2010/main" val="1530493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5B74-01BF-AD91-276A-48E3CA3A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Findings: Improvement Trends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964B8-DD01-5F5A-3A08-FEA4A3ED6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mid-tier programs show rapid year-over-year gains</a:t>
            </a:r>
          </a:p>
          <a:p>
            <a:r>
              <a:rPr lang="en-US" dirty="0"/>
              <a:t>Improvement metrics identify emerging endorsement opportunities</a:t>
            </a:r>
          </a:p>
          <a:p>
            <a:r>
              <a:rPr lang="en-US" dirty="0"/>
              <a:t>High upward movement signals strong future potential</a:t>
            </a:r>
          </a:p>
        </p:txBody>
      </p:sp>
    </p:spTree>
    <p:extLst>
      <p:ext uri="{BB962C8B-B14F-4D97-AF65-F5344CB8AC3E}">
        <p14:creationId xmlns:p14="http://schemas.microsoft.com/office/powerpoint/2010/main" val="260053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F402A8-F6BE-71B3-20C2-6A827E7E6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anchor="b">
            <a:normAutofit/>
          </a:bodyPr>
          <a:lstStyle/>
          <a:p>
            <a:r>
              <a:rPr lang="en-US" sz="2800" b="1">
                <a:solidFill>
                  <a:srgbClr val="262626"/>
                </a:solidFill>
              </a:rPr>
              <a:t>Visualization Example: Top Teams</a:t>
            </a:r>
            <a:endParaRPr lang="en-US" sz="2800">
              <a:solidFill>
                <a:srgbClr val="262626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1DD764B-1F1A-87EE-5C5B-4244675CD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774"/>
            <a:ext cx="3660057" cy="3382094"/>
          </a:xfrm>
        </p:spPr>
        <p:txBody>
          <a:bodyPr>
            <a:normAutofit/>
          </a:bodyPr>
          <a:lstStyle/>
          <a:p>
            <a:r>
              <a:rPr lang="en-US" sz="1600" dirty="0"/>
              <a:t>Demonstrates long-term consistency</a:t>
            </a:r>
          </a:p>
          <a:p>
            <a:r>
              <a:rPr lang="en-US" sz="1600" dirty="0"/>
              <a:t>Highlights strongest endorsement candidates</a:t>
            </a:r>
          </a:p>
          <a:p>
            <a:pPr algn="ctr"/>
            <a:endParaRPr lang="en-US" sz="1600" dirty="0">
              <a:solidFill>
                <a:srgbClr val="262626"/>
              </a:solidFill>
            </a:endParaRPr>
          </a:p>
        </p:txBody>
      </p:sp>
      <p:pic>
        <p:nvPicPr>
          <p:cNvPr id="4" name="Content Placeholder 3" descr="A graph of teams in different teams&#10;&#10;AI-generated content may be incorrect.">
            <a:extLst>
              <a:ext uri="{FF2B5EF4-FFF2-40B4-BE49-F238E27FC236}">
                <a16:creationId xmlns:a16="http://schemas.microsoft.com/office/drawing/2014/main" id="{EDDEA1B6-2C51-B9D8-1844-B2FB5B716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533" y="982131"/>
            <a:ext cx="4893735" cy="4893735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734150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EF2320-2960-0579-902E-E6D172289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anchor="b">
            <a:normAutofit fontScale="90000"/>
          </a:bodyPr>
          <a:lstStyle/>
          <a:p>
            <a:r>
              <a:rPr lang="en-US" sz="2800" b="1"/>
              <a:t>Visualization Example: Trends</a:t>
            </a:r>
            <a:br>
              <a:rPr lang="en-US" sz="2800" b="1"/>
            </a:br>
            <a:endParaRPr lang="en-US" sz="2800" dirty="0">
              <a:solidFill>
                <a:srgbClr val="262626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6A6AEF-5967-DBF9-ED9E-F88FE38AB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774"/>
            <a:ext cx="3660057" cy="3382094"/>
          </a:xfrm>
        </p:spPr>
        <p:txBody>
          <a:bodyPr>
            <a:normAutofit/>
          </a:bodyPr>
          <a:lstStyle/>
          <a:p>
            <a:r>
              <a:rPr lang="en-US" sz="1600" dirty="0"/>
              <a:t>Shows stability and growth patterns</a:t>
            </a:r>
          </a:p>
          <a:p>
            <a:r>
              <a:rPr lang="en-US" sz="1600" dirty="0"/>
              <a:t>Useful for identifying rising programs</a:t>
            </a:r>
          </a:p>
        </p:txBody>
      </p:sp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A60D7F4-8CAD-F4C0-8162-75D8694D8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0400" y="982131"/>
            <a:ext cx="4906001" cy="4893735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96245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D459FF-98E2-D0C9-5E7D-1B734DE6C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anchor="b">
            <a:normAutofit/>
          </a:bodyPr>
          <a:lstStyle/>
          <a:p>
            <a:r>
              <a:rPr lang="en-US" sz="2800" b="1">
                <a:solidFill>
                  <a:srgbClr val="262626"/>
                </a:solidFill>
              </a:rPr>
              <a:t>Visualization Example: Efficiency</a:t>
            </a:r>
            <a:endParaRPr lang="en-US" sz="2800">
              <a:solidFill>
                <a:srgbClr val="262626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7">
            <a:extLst>
              <a:ext uri="{FF2B5EF4-FFF2-40B4-BE49-F238E27FC236}">
                <a16:creationId xmlns:a16="http://schemas.microsoft.com/office/drawing/2014/main" id="{B9401DBB-0F75-9C4C-962D-BC79EAAF21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493774"/>
            <a:ext cx="3660057" cy="33820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Strong correlation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Confirms validity of power rating as a key metric</a:t>
            </a:r>
          </a:p>
        </p:txBody>
      </p:sp>
      <p:pic>
        <p:nvPicPr>
          <p:cNvPr id="4" name="Content Placeholder 3" descr="A graph showing a diagram of a graph&#10;&#10;AI-generated content may be incorrect.">
            <a:extLst>
              <a:ext uri="{FF2B5EF4-FFF2-40B4-BE49-F238E27FC236}">
                <a16:creationId xmlns:a16="http://schemas.microsoft.com/office/drawing/2014/main" id="{1986B473-3420-4933-8E20-60066A942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533" y="982131"/>
            <a:ext cx="4893735" cy="4893735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907014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1176CD-E69D-9222-5FB1-583FCC0D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>
                <a:solidFill>
                  <a:srgbClr val="262626"/>
                </a:solidFill>
              </a:rPr>
              <a:t>Visualization Example: Conference Impact</a:t>
            </a:r>
            <a:endParaRPr lang="en-US" sz="2800">
              <a:solidFill>
                <a:srgbClr val="262626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EF874-9B44-BB49-9AD9-8F7CABC6F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774"/>
            <a:ext cx="3660057" cy="3382094"/>
          </a:xfrm>
        </p:spPr>
        <p:txBody>
          <a:bodyPr>
            <a:normAutofit/>
          </a:bodyPr>
          <a:lstStyle/>
          <a:p>
            <a:pPr algn="ctr"/>
            <a:r>
              <a:rPr lang="en-US" sz="1600">
                <a:solidFill>
                  <a:srgbClr val="262626"/>
                </a:solidFill>
              </a:rPr>
              <a:t>Confirms powerhouse conference dominance</a:t>
            </a:r>
          </a:p>
          <a:p>
            <a:pPr algn="ctr"/>
            <a:r>
              <a:rPr lang="en-US" sz="1600">
                <a:solidFill>
                  <a:srgbClr val="262626"/>
                </a:solidFill>
              </a:rPr>
              <a:t>Important context for endorsement decisions</a:t>
            </a:r>
          </a:p>
        </p:txBody>
      </p:sp>
      <p:pic>
        <p:nvPicPr>
          <p:cNvPr id="4" name="Picture 3" descr="A graph of average bartag by conference&#10;&#10;AI-generated content may be incorrect.">
            <a:extLst>
              <a:ext uri="{FF2B5EF4-FFF2-40B4-BE49-F238E27FC236}">
                <a16:creationId xmlns:a16="http://schemas.microsoft.com/office/drawing/2014/main" id="{318E19B8-7EA8-811E-87F6-8B5C23656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533" y="982131"/>
            <a:ext cx="4893735" cy="4893735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942007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E114-298A-4D2B-2A77-15AA9A6B1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F1B6D-D00E-0E01-965C-407EE7B8A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top-performing teams represent the safest endorsement choices</a:t>
            </a:r>
          </a:p>
          <a:p>
            <a:r>
              <a:rPr lang="en-US" dirty="0"/>
              <a:t>Emerging programs present high-upside opportunities</a:t>
            </a:r>
          </a:p>
          <a:p>
            <a:r>
              <a:rPr lang="en-US" dirty="0"/>
              <a:t>Efficiency metrics provide a more reliable indicator than wins alone</a:t>
            </a:r>
          </a:p>
          <a:p>
            <a:r>
              <a:rPr lang="en-US" dirty="0"/>
              <a:t>Conferences play a significant role in long-term performance</a:t>
            </a:r>
          </a:p>
        </p:txBody>
      </p:sp>
    </p:spTree>
    <p:extLst>
      <p:ext uri="{BB962C8B-B14F-4D97-AF65-F5344CB8AC3E}">
        <p14:creationId xmlns:p14="http://schemas.microsoft.com/office/powerpoint/2010/main" val="296489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C524-8584-96F7-1890-51D2FD57C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D5383-96F6-8998-9E7C-CEE68C0CD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Prioritize established elite programs for immediate partnerships</a:t>
            </a:r>
          </a:p>
          <a:p>
            <a:r>
              <a:rPr lang="en-US" dirty="0"/>
              <a:t>Build early relationships with fast-improving programs</a:t>
            </a:r>
          </a:p>
          <a:p>
            <a:r>
              <a:rPr lang="en-US" dirty="0"/>
              <a:t>Integrate NIL social metrics into next-level evaluation</a:t>
            </a:r>
          </a:p>
          <a:p>
            <a:r>
              <a:rPr lang="en-US" dirty="0"/>
              <a:t>Expand analysis to include women’s NCAA teams</a:t>
            </a:r>
          </a:p>
          <a:p>
            <a:r>
              <a:rPr lang="en-US" dirty="0"/>
              <a:t>Consider predictive modeling for future endorsement identification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914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89A6-B15C-095C-C640-EE925361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ECA75-0CDD-7208-D29F-DD7AD9FB5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Merge performance + NIL social engagement data</a:t>
            </a:r>
          </a:p>
          <a:p>
            <a:r>
              <a:rPr lang="en-US" dirty="0"/>
              <a:t>Build predictive modeling (R or Python)</a:t>
            </a:r>
          </a:p>
          <a:p>
            <a:r>
              <a:rPr lang="en-US" dirty="0"/>
              <a:t>Monitor yearly updates to performance metrics</a:t>
            </a:r>
          </a:p>
          <a:p>
            <a:r>
              <a:rPr lang="en-US" dirty="0"/>
              <a:t>Expand scope to athlete-level insights</a:t>
            </a:r>
          </a:p>
        </p:txBody>
      </p:sp>
    </p:spTree>
    <p:extLst>
      <p:ext uri="{BB962C8B-B14F-4D97-AF65-F5344CB8AC3E}">
        <p14:creationId xmlns:p14="http://schemas.microsoft.com/office/powerpoint/2010/main" val="2816957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0997-BEC6-418A-3DD5-3B10CF61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A5AD-02DD-FD2E-133A-59867306E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69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47EA-1C2F-7F44-D724-A58B573E3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Tools &amp;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186ED-7B10-20DC-3D55-7E875AFC9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(</a:t>
            </a:r>
            <a:r>
              <a:rPr lang="en-US" dirty="0" err="1"/>
              <a:t>tidyverse</a:t>
            </a:r>
            <a:r>
              <a:rPr lang="en-US" dirty="0"/>
              <a:t> + ggplot2)</a:t>
            </a:r>
          </a:p>
          <a:p>
            <a:r>
              <a:rPr lang="en-US" dirty="0"/>
              <a:t>Multi-season statistical modeling</a:t>
            </a:r>
          </a:p>
          <a:p>
            <a:r>
              <a:rPr lang="en-US" dirty="0"/>
              <a:t>Summary tables and visual analysis</a:t>
            </a:r>
          </a:p>
          <a:p>
            <a:r>
              <a:rPr lang="en-US" dirty="0"/>
              <a:t>Cleaned and consistently-structured data outputs</a:t>
            </a:r>
          </a:p>
        </p:txBody>
      </p:sp>
    </p:spTree>
    <p:extLst>
      <p:ext uri="{BB962C8B-B14F-4D97-AF65-F5344CB8AC3E}">
        <p14:creationId xmlns:p14="http://schemas.microsoft.com/office/powerpoint/2010/main" val="3221902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E12E-6B2E-7D8A-07A3-686BE53F5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AC433-3239-8D59-9B0D-6636DF103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 code </a:t>
            </a:r>
            <a:endParaRPr lang="en-US" dirty="0"/>
          </a:p>
          <a:p>
            <a:r>
              <a:rPr lang="en-US" dirty="0">
                <a:hlinkClick r:id="rId3"/>
              </a:rPr>
              <a:t>Charts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Csv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68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D54E-E34D-5E9A-5773-CA595456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7BB6D-E096-2406-86B9-B6AA4CE9D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00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D5CB-CD79-AFDF-1306-7411F448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56F4-561C-7245-663D-EFF8770DD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953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</TotalTime>
  <Words>486</Words>
  <Application>Microsoft Macintosh PowerPoint</Application>
  <PresentationFormat>Widescreen</PresentationFormat>
  <Paragraphs>94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Garamond</vt:lpstr>
      <vt:lpstr>Organic</vt:lpstr>
      <vt:lpstr>NCAA Men’s Basketball Case Study</vt:lpstr>
      <vt:lpstr>Executive Summary</vt:lpstr>
      <vt:lpstr>Business Question </vt:lpstr>
      <vt:lpstr>Key Metrics Evaluated</vt:lpstr>
      <vt:lpstr>Dataset Overview</vt:lpstr>
      <vt:lpstr>Data Preparation</vt:lpstr>
      <vt:lpstr>Data Processing Workflow</vt:lpstr>
      <vt:lpstr>Analysis Approach</vt:lpstr>
      <vt:lpstr>Top Performance Indicators</vt:lpstr>
      <vt:lpstr>Key Findings: Overall Performance</vt:lpstr>
      <vt:lpstr>Key Findings: Improvement Trends</vt:lpstr>
      <vt:lpstr>Visualization Example: Top Teams</vt:lpstr>
      <vt:lpstr>Visualization Example: Trends </vt:lpstr>
      <vt:lpstr>Visualization Example: Efficiency</vt:lpstr>
      <vt:lpstr>Visualization Example: Conference Impact</vt:lpstr>
      <vt:lpstr>Insights</vt:lpstr>
      <vt:lpstr>Recommendations</vt:lpstr>
      <vt:lpstr>Next Steps</vt:lpstr>
      <vt:lpstr>PowerPoint Presentation</vt:lpstr>
      <vt:lpstr>Tools &amp; Methodology</vt:lpstr>
      <vt:lpstr>Appendix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Edon Lata</dc:creator>
  <cp:lastModifiedBy>Edon Lata</cp:lastModifiedBy>
  <cp:revision>1</cp:revision>
  <dcterms:created xsi:type="dcterms:W3CDTF">2025-11-17T19:32:03Z</dcterms:created>
  <dcterms:modified xsi:type="dcterms:W3CDTF">2025-11-17T19:50:34Z</dcterms:modified>
</cp:coreProperties>
</file>